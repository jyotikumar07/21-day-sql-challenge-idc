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11"/>
  </p:notesMasterIdLst>
  <p:sldIdLst>
    <p:sldId id="256" r:id="rId2"/>
    <p:sldId id="260" r:id="rId3"/>
    <p:sldId id="257" r:id="rId4"/>
    <p:sldId id="258" r:id="rId5"/>
    <p:sldId id="259"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p:scale>
          <a:sx n="73" d="100"/>
          <a:sy n="73" d="100"/>
        </p:scale>
        <p:origin x="51"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A06A7F-EC52-44CA-8F48-B5F07864A1BC}"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BBD4EDD4-383A-4248-8E53-304C80F9347F}">
      <dgm:prSet phldrT="[Text]" phldr="0"/>
      <dgm:spPr/>
      <dgm:t>
        <a:bodyPr/>
        <a:lstStyle/>
        <a:p>
          <a:endParaRPr lang="en-US" dirty="0"/>
        </a:p>
      </dgm:t>
    </dgm:pt>
    <dgm:pt modelId="{A094015E-7252-4F97-BA49-D5BDD705AC7A}" type="parTrans" cxnId="{DD2811F7-A14C-4B89-B352-05D71395F32F}">
      <dgm:prSet/>
      <dgm:spPr/>
      <dgm:t>
        <a:bodyPr/>
        <a:lstStyle/>
        <a:p>
          <a:endParaRPr lang="en-US"/>
        </a:p>
      </dgm:t>
    </dgm:pt>
    <dgm:pt modelId="{3EF5D1D0-61EB-469D-8A1D-C91C5C809AAF}" type="sibTrans" cxnId="{DD2811F7-A14C-4B89-B352-05D71395F32F}">
      <dgm:prSet/>
      <dgm:spPr>
        <a:blipFill>
          <a:blip xmlns:r="http://schemas.openxmlformats.org/officeDocument/2006/relationships" r:embed="rId1"/>
          <a:srcRect/>
          <a:stretch>
            <a:fillRect/>
          </a:stretch>
        </a:blipFill>
        <a:effectLst>
          <a:softEdge rad="38100"/>
        </a:effectLst>
      </dgm:spPr>
      <dgm:t>
        <a:bodyPr/>
        <a:lstStyle/>
        <a:p>
          <a:endParaRPr lang="en-US"/>
        </a:p>
      </dgm:t>
      <dgm:extLst>
        <a:ext uri="{E40237B7-FDA0-4F09-8148-C483321AD2D9}">
          <dgm14:cNvPr xmlns:dgm14="http://schemas.microsoft.com/office/drawing/2010/diagram" id="0" name="" descr="A person in a sari">
            <a:extLst>
              <a:ext uri="{FF2B5EF4-FFF2-40B4-BE49-F238E27FC236}">
                <a16:creationId xmlns:a16="http://schemas.microsoft.com/office/drawing/2014/main" id="{6231D3B3-9DE5-C0AC-2D8C-D23F5E48F6E7}"/>
              </a:ext>
            </a:extLst>
          </dgm14:cNvPr>
        </a:ext>
      </dgm:extLst>
    </dgm:pt>
    <dgm:pt modelId="{8D43321F-7467-4862-848E-8199371CF1EE}" type="pres">
      <dgm:prSet presAssocID="{3AA06A7F-EC52-44CA-8F48-B5F07864A1BC}" presName="Name0" presStyleCnt="0">
        <dgm:presLayoutVars>
          <dgm:chMax val="7"/>
          <dgm:chPref val="7"/>
          <dgm:dir/>
        </dgm:presLayoutVars>
      </dgm:prSet>
      <dgm:spPr/>
    </dgm:pt>
    <dgm:pt modelId="{095F2BF8-DFA5-474F-83BA-8274FD0CA32E}" type="pres">
      <dgm:prSet presAssocID="{3AA06A7F-EC52-44CA-8F48-B5F07864A1BC}" presName="Name1" presStyleCnt="0"/>
      <dgm:spPr/>
    </dgm:pt>
    <dgm:pt modelId="{120BFBB4-4118-41A9-976E-57045F598A3B}" type="pres">
      <dgm:prSet presAssocID="{3EF5D1D0-61EB-469D-8A1D-C91C5C809AAF}" presName="picture_1" presStyleCnt="0"/>
      <dgm:spPr/>
    </dgm:pt>
    <dgm:pt modelId="{0686EC65-310C-44F4-9D60-35CD504FC055}" type="pres">
      <dgm:prSet presAssocID="{3EF5D1D0-61EB-469D-8A1D-C91C5C809AAF}" presName="pictureRepeatNode" presStyleLbl="alignImgPlace1" presStyleIdx="0" presStyleCnt="1" custScaleX="163585" custScaleY="168698" custLinFactNeighborX="-31462" custLinFactNeighborY="-36436"/>
      <dgm:spPr/>
    </dgm:pt>
    <dgm:pt modelId="{3C87BAF7-5D33-40FB-823A-6578D214F62A}" type="pres">
      <dgm:prSet presAssocID="{BBD4EDD4-383A-4248-8E53-304C80F9347F}" presName="text_1" presStyleLbl="node1" presStyleIdx="0" presStyleCnt="0">
        <dgm:presLayoutVars>
          <dgm:bulletEnabled val="1"/>
        </dgm:presLayoutVars>
      </dgm:prSet>
      <dgm:spPr/>
    </dgm:pt>
  </dgm:ptLst>
  <dgm:cxnLst>
    <dgm:cxn modelId="{C4FFB237-CEB4-4BBA-9FDA-A3715973DBFA}" type="presOf" srcId="{3EF5D1D0-61EB-469D-8A1D-C91C5C809AAF}" destId="{0686EC65-310C-44F4-9D60-35CD504FC055}" srcOrd="0" destOrd="0" presId="urn:microsoft.com/office/officeart/2008/layout/CircularPictureCallout"/>
    <dgm:cxn modelId="{3E37BD56-0113-4886-92AC-33D4BA3F6A60}" type="presOf" srcId="{BBD4EDD4-383A-4248-8E53-304C80F9347F}" destId="{3C87BAF7-5D33-40FB-823A-6578D214F62A}" srcOrd="0" destOrd="0" presId="urn:microsoft.com/office/officeart/2008/layout/CircularPictureCallout"/>
    <dgm:cxn modelId="{1540457F-247A-4517-BA74-298D4860B283}" type="presOf" srcId="{3AA06A7F-EC52-44CA-8F48-B5F07864A1BC}" destId="{8D43321F-7467-4862-848E-8199371CF1EE}" srcOrd="0" destOrd="0" presId="urn:microsoft.com/office/officeart/2008/layout/CircularPictureCallout"/>
    <dgm:cxn modelId="{DD2811F7-A14C-4B89-B352-05D71395F32F}" srcId="{3AA06A7F-EC52-44CA-8F48-B5F07864A1BC}" destId="{BBD4EDD4-383A-4248-8E53-304C80F9347F}" srcOrd="0" destOrd="0" parTransId="{A094015E-7252-4F97-BA49-D5BDD705AC7A}" sibTransId="{3EF5D1D0-61EB-469D-8A1D-C91C5C809AAF}"/>
    <dgm:cxn modelId="{4A07FD09-A5E6-4496-8FA2-7DF47F371EDA}" type="presParOf" srcId="{8D43321F-7467-4862-848E-8199371CF1EE}" destId="{095F2BF8-DFA5-474F-83BA-8274FD0CA32E}" srcOrd="0" destOrd="0" presId="urn:microsoft.com/office/officeart/2008/layout/CircularPictureCallout"/>
    <dgm:cxn modelId="{27CE9B76-5CF6-4D4D-8D32-00D9F77DEC0D}" type="presParOf" srcId="{095F2BF8-DFA5-474F-83BA-8274FD0CA32E}" destId="{120BFBB4-4118-41A9-976E-57045F598A3B}" srcOrd="0" destOrd="0" presId="urn:microsoft.com/office/officeart/2008/layout/CircularPictureCallout"/>
    <dgm:cxn modelId="{EF599709-FA5D-4A23-A51D-0BED67E38879}" type="presParOf" srcId="{120BFBB4-4118-41A9-976E-57045F598A3B}" destId="{0686EC65-310C-44F4-9D60-35CD504FC055}" srcOrd="0" destOrd="0" presId="urn:microsoft.com/office/officeart/2008/layout/CircularPictureCallout"/>
    <dgm:cxn modelId="{8D057166-3222-4822-9741-F039B8EBB1FC}" type="presParOf" srcId="{095F2BF8-DFA5-474F-83BA-8274FD0CA32E}" destId="{3C87BAF7-5D33-40FB-823A-6578D214F62A}" srcOrd="1" destOrd="0" presId="urn:microsoft.com/office/officeart/2008/layout/CircularPictureCallou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86EC65-310C-44F4-9D60-35CD504FC055}">
      <dsp:nvSpPr>
        <dsp:cNvPr id="0" name=""/>
        <dsp:cNvSpPr/>
      </dsp:nvSpPr>
      <dsp:spPr>
        <a:xfrm>
          <a:off x="0" y="0"/>
          <a:ext cx="3448406" cy="3556189"/>
        </a:xfrm>
        <a:prstGeom prst="ellipse">
          <a:avLst/>
        </a:prstGeom>
        <a:blipFill>
          <a:blip xmlns:r="http://schemas.openxmlformats.org/officeDocument/2006/relationships" r:embed="rId1"/>
          <a:srcRect/>
          <a:stretch>
            <a:fillRect/>
          </a:stretch>
        </a:blipFill>
        <a:ln w="15875" cap="flat" cmpd="sng" algn="ctr">
          <a:solidFill>
            <a:schemeClr val="lt1">
              <a:hueOff val="0"/>
              <a:satOff val="0"/>
              <a:lumOff val="0"/>
              <a:alphaOff val="0"/>
            </a:schemeClr>
          </a:solidFill>
          <a:prstDash val="solid"/>
        </a:ln>
        <a:effectLst>
          <a:softEdge rad="38100"/>
        </a:effectLst>
      </dsp:spPr>
      <dsp:style>
        <a:lnRef idx="2">
          <a:scrgbClr r="0" g="0" b="0"/>
        </a:lnRef>
        <a:fillRef idx="1">
          <a:scrgbClr r="0" g="0" b="0"/>
        </a:fillRef>
        <a:effectRef idx="0">
          <a:scrgbClr r="0" g="0" b="0"/>
        </a:effectRef>
        <a:fontRef idx="minor"/>
      </dsp:style>
    </dsp:sp>
    <dsp:sp modelId="{3C87BAF7-5D33-40FB-823A-6578D214F62A}">
      <dsp:nvSpPr>
        <dsp:cNvPr id="0" name=""/>
        <dsp:cNvSpPr/>
      </dsp:nvSpPr>
      <dsp:spPr>
        <a:xfrm>
          <a:off x="1433454" y="2173369"/>
          <a:ext cx="1349133" cy="695646"/>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2444750">
            <a:lnSpc>
              <a:spcPct val="90000"/>
            </a:lnSpc>
            <a:spcBef>
              <a:spcPct val="0"/>
            </a:spcBef>
            <a:spcAft>
              <a:spcPct val="35000"/>
            </a:spcAft>
            <a:buNone/>
          </a:pPr>
          <a:endParaRPr lang="en-US" sz="5500" kern="1200" dirty="0"/>
        </a:p>
      </dsp:txBody>
      <dsp:txXfrm>
        <a:off x="1433454" y="2173369"/>
        <a:ext cx="1349133" cy="695646"/>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85E01D-C2C4-47F3-BB73-6778ABA7B0F6}"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175C39-AB14-4605-ADD8-926EBFFCE4E2}" type="slidenum">
              <a:rPr lang="en-US" smtClean="0"/>
              <a:t>‹#›</a:t>
            </a:fld>
            <a:endParaRPr lang="en-US"/>
          </a:p>
        </p:txBody>
      </p:sp>
    </p:spTree>
    <p:extLst>
      <p:ext uri="{BB962C8B-B14F-4D97-AF65-F5344CB8AC3E}">
        <p14:creationId xmlns:p14="http://schemas.microsoft.com/office/powerpoint/2010/main" val="149804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175C39-AB14-4605-ADD8-926EBFFCE4E2}" type="slidenum">
              <a:rPr lang="en-US" smtClean="0"/>
              <a:t>8</a:t>
            </a:fld>
            <a:endParaRPr lang="en-US"/>
          </a:p>
        </p:txBody>
      </p:sp>
    </p:spTree>
    <p:extLst>
      <p:ext uri="{BB962C8B-B14F-4D97-AF65-F5344CB8AC3E}">
        <p14:creationId xmlns:p14="http://schemas.microsoft.com/office/powerpoint/2010/main" val="170964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endParaRPr lang="en-US" sz="4000" dirty="0">
              <a:latin typeface="Sitka Heading Semibold" pitchFamily="2" charset="0"/>
            </a:endParaRPr>
          </a:p>
        </p:txBody>
      </p:sp>
      <p:sp>
        <p:nvSpPr>
          <p:cNvPr id="4" name="Slide Number Placeholder 3"/>
          <p:cNvSpPr>
            <a:spLocks noGrp="1"/>
          </p:cNvSpPr>
          <p:nvPr>
            <p:ph type="sldNum" sz="quarter" idx="5"/>
          </p:nvPr>
        </p:nvSpPr>
        <p:spPr/>
        <p:txBody>
          <a:bodyPr/>
          <a:lstStyle/>
          <a:p>
            <a:fld id="{D0175C39-AB14-4605-ADD8-926EBFFCE4E2}" type="slidenum">
              <a:rPr lang="en-US" smtClean="0"/>
              <a:t>9</a:t>
            </a:fld>
            <a:endParaRPr lang="en-US"/>
          </a:p>
        </p:txBody>
      </p:sp>
    </p:spTree>
    <p:extLst>
      <p:ext uri="{BB962C8B-B14F-4D97-AF65-F5344CB8AC3E}">
        <p14:creationId xmlns:p14="http://schemas.microsoft.com/office/powerpoint/2010/main" val="1433848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11/20/2025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23961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0167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77945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98912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84378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54837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52059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51546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44906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21922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03501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45964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24531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79713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41263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919349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43618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11/20/2025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87784473"/>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ikist.com/search?q=pizza"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hyperlink" Target="https://pixabay.com/en/hand-leave-pen-paper-thank-you-226358/" TargetMode="Externa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zza with tomatoes and greens on a plate&#10;&#10;AI-generated content may be incorrect.">
            <a:extLst>
              <a:ext uri="{FF2B5EF4-FFF2-40B4-BE49-F238E27FC236}">
                <a16:creationId xmlns:a16="http://schemas.microsoft.com/office/drawing/2014/main" id="{26F83B32-258E-AECB-F61B-C88883BDE879}"/>
              </a:ext>
            </a:extLst>
          </p:cNvPr>
          <p:cNvPicPr>
            <a:picLocks noChangeAspect="1"/>
          </p:cNvPicPr>
          <p:nvPr/>
        </p:nvPicPr>
        <p:blipFill>
          <a:blip r:embed="rId2">
            <a:alphaModFix/>
            <a:extLst>
              <a:ext uri="{837473B0-CC2E-450A-ABE3-18F120FF3D39}">
                <a1611:picAttrSrcUrl xmlns:a1611="http://schemas.microsoft.com/office/drawing/2016/11/main" r:id="rId3"/>
              </a:ext>
            </a:extLst>
          </a:blip>
          <a:stretch>
            <a:fillRect/>
          </a:stretch>
        </p:blipFill>
        <p:spPr>
          <a:xfrm>
            <a:off x="3761420" y="2770481"/>
            <a:ext cx="5839779" cy="2676730"/>
          </a:xfrm>
          <a:prstGeom prst="rect">
            <a:avLst/>
          </a:prstGeom>
          <a:ln>
            <a:solidFill>
              <a:schemeClr val="bg2"/>
            </a:solidFill>
          </a:ln>
          <a:effectLst>
            <a:softEdge rad="88900"/>
          </a:effectLst>
        </p:spPr>
      </p:pic>
      <p:sp>
        <p:nvSpPr>
          <p:cNvPr id="2" name="Title 1">
            <a:extLst>
              <a:ext uri="{FF2B5EF4-FFF2-40B4-BE49-F238E27FC236}">
                <a16:creationId xmlns:a16="http://schemas.microsoft.com/office/drawing/2014/main" id="{CB030F3D-BB1F-B3EA-293B-BD8A46362864}"/>
              </a:ext>
            </a:extLst>
          </p:cNvPr>
          <p:cNvSpPr>
            <a:spLocks noGrp="1"/>
          </p:cNvSpPr>
          <p:nvPr>
            <p:ph type="ctrTitle"/>
          </p:nvPr>
        </p:nvSpPr>
        <p:spPr>
          <a:xfrm>
            <a:off x="2131694" y="189706"/>
            <a:ext cx="8791575" cy="1398587"/>
          </a:xfrm>
        </p:spPr>
        <p:txBody>
          <a:bodyPr>
            <a:normAutofit/>
          </a:bodyPr>
          <a:lstStyle/>
          <a:p>
            <a:pPr algn="ctr"/>
            <a:r>
              <a:rPr lang="en-US" sz="4000" dirty="0">
                <a:latin typeface="Sitka Heading Semibold" pitchFamily="2" charset="0"/>
              </a:rPr>
              <a:t>The Great Pizza Analytics Challenge</a:t>
            </a:r>
          </a:p>
        </p:txBody>
      </p:sp>
      <p:sp>
        <p:nvSpPr>
          <p:cNvPr id="3" name="Subtitle 2">
            <a:extLst>
              <a:ext uri="{FF2B5EF4-FFF2-40B4-BE49-F238E27FC236}">
                <a16:creationId xmlns:a16="http://schemas.microsoft.com/office/drawing/2014/main" id="{F22D28F9-058D-5A7E-A567-0DE7CD871FF6}"/>
              </a:ext>
            </a:extLst>
          </p:cNvPr>
          <p:cNvSpPr>
            <a:spLocks noGrp="1"/>
          </p:cNvSpPr>
          <p:nvPr>
            <p:ph type="subTitle" idx="1"/>
          </p:nvPr>
        </p:nvSpPr>
        <p:spPr>
          <a:xfrm>
            <a:off x="4441766" y="1795064"/>
            <a:ext cx="4337170" cy="602457"/>
          </a:xfrm>
        </p:spPr>
        <p:txBody>
          <a:bodyPr>
            <a:normAutofit/>
          </a:bodyPr>
          <a:lstStyle/>
          <a:p>
            <a:r>
              <a:rPr lang="en-US" dirty="0">
                <a:latin typeface="Sitka Subheading" pitchFamily="2" charset="0"/>
              </a:rPr>
              <a:t>A mini-project challenge</a:t>
            </a:r>
          </a:p>
        </p:txBody>
      </p:sp>
    </p:spTree>
    <p:extLst>
      <p:ext uri="{BB962C8B-B14F-4D97-AF65-F5344CB8AC3E}">
        <p14:creationId xmlns:p14="http://schemas.microsoft.com/office/powerpoint/2010/main" val="60834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B45D4-6626-CB50-2CFF-73C0E089F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C1EDCB-DD43-BB61-8E8E-9401914FF2B1}"/>
              </a:ext>
            </a:extLst>
          </p:cNvPr>
          <p:cNvSpPr>
            <a:spLocks noGrp="1"/>
          </p:cNvSpPr>
          <p:nvPr>
            <p:ph type="ctrTitle"/>
          </p:nvPr>
        </p:nvSpPr>
        <p:spPr>
          <a:xfrm>
            <a:off x="2346324" y="419099"/>
            <a:ext cx="8791575" cy="908051"/>
          </a:xfrm>
        </p:spPr>
        <p:txBody>
          <a:bodyPr>
            <a:normAutofit/>
          </a:bodyPr>
          <a:lstStyle/>
          <a:p>
            <a:pPr algn="ctr"/>
            <a:r>
              <a:rPr lang="en-US" sz="4000" dirty="0">
                <a:latin typeface="Sitka Heading Semibold" pitchFamily="2" charset="0"/>
              </a:rPr>
              <a:t>About the data analyst</a:t>
            </a:r>
          </a:p>
        </p:txBody>
      </p:sp>
      <p:sp>
        <p:nvSpPr>
          <p:cNvPr id="3" name="Subtitle 2">
            <a:extLst>
              <a:ext uri="{FF2B5EF4-FFF2-40B4-BE49-F238E27FC236}">
                <a16:creationId xmlns:a16="http://schemas.microsoft.com/office/drawing/2014/main" id="{F22B56DA-D99D-7618-575B-A2EE30F6B2C4}"/>
              </a:ext>
            </a:extLst>
          </p:cNvPr>
          <p:cNvSpPr>
            <a:spLocks noGrp="1"/>
          </p:cNvSpPr>
          <p:nvPr>
            <p:ph type="subTitle" idx="1"/>
          </p:nvPr>
        </p:nvSpPr>
        <p:spPr>
          <a:xfrm>
            <a:off x="2689224" y="5500688"/>
            <a:ext cx="2743200" cy="658812"/>
          </a:xfrm>
        </p:spPr>
        <p:txBody>
          <a:bodyPr/>
          <a:lstStyle/>
          <a:p>
            <a:pPr algn="ctr"/>
            <a:r>
              <a:rPr lang="en-US" dirty="0"/>
              <a:t>Jyoti Kumar</a:t>
            </a:r>
          </a:p>
        </p:txBody>
      </p:sp>
      <p:graphicFrame>
        <p:nvGraphicFramePr>
          <p:cNvPr id="8" name="Diagram 7">
            <a:extLst>
              <a:ext uri="{FF2B5EF4-FFF2-40B4-BE49-F238E27FC236}">
                <a16:creationId xmlns:a16="http://schemas.microsoft.com/office/drawing/2014/main" id="{A295F274-2F91-F025-A7CB-7DB2B481CD5D}"/>
              </a:ext>
            </a:extLst>
          </p:cNvPr>
          <p:cNvGraphicFramePr/>
          <p:nvPr>
            <p:extLst>
              <p:ext uri="{D42A27DB-BD31-4B8C-83A1-F6EECF244321}">
                <p14:modId xmlns:p14="http://schemas.microsoft.com/office/powerpoint/2010/main" val="1455030132"/>
              </p:ext>
            </p:extLst>
          </p:nvPr>
        </p:nvGraphicFramePr>
        <p:xfrm>
          <a:off x="2346324" y="1898650"/>
          <a:ext cx="4216042" cy="42160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26233DF2-D281-DDD4-8F9C-7C77FCCEF24C}"/>
              </a:ext>
            </a:extLst>
          </p:cNvPr>
          <p:cNvSpPr txBox="1"/>
          <p:nvPr/>
        </p:nvSpPr>
        <p:spPr>
          <a:xfrm>
            <a:off x="6562366" y="2743200"/>
            <a:ext cx="3813534" cy="1754326"/>
          </a:xfrm>
          <a:prstGeom prst="rect">
            <a:avLst/>
          </a:prstGeom>
          <a:noFill/>
        </p:spPr>
        <p:txBody>
          <a:bodyPr wrap="square" rtlCol="0">
            <a:spAutoFit/>
          </a:bodyPr>
          <a:lstStyle/>
          <a:p>
            <a:endParaRPr lang="en-US" dirty="0"/>
          </a:p>
          <a:p>
            <a:r>
              <a:rPr lang="en-US" dirty="0"/>
              <a:t>Highly proficient in Microsoft Excel, SQL, and  Power BI, with excellent organizational skills and a strong focus on driving data-informed decision-making.</a:t>
            </a:r>
          </a:p>
        </p:txBody>
      </p:sp>
    </p:spTree>
    <p:extLst>
      <p:ext uri="{BB962C8B-B14F-4D97-AF65-F5344CB8AC3E}">
        <p14:creationId xmlns:p14="http://schemas.microsoft.com/office/powerpoint/2010/main" val="2969062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246F9-6B14-6C57-9C03-AAB2765EA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CF8CE-E8A5-EE20-02B0-48187C571266}"/>
              </a:ext>
            </a:extLst>
          </p:cNvPr>
          <p:cNvSpPr>
            <a:spLocks noGrp="1"/>
          </p:cNvSpPr>
          <p:nvPr>
            <p:ph type="ctrTitle"/>
          </p:nvPr>
        </p:nvSpPr>
        <p:spPr>
          <a:xfrm>
            <a:off x="1876424" y="1122363"/>
            <a:ext cx="8791575" cy="884716"/>
          </a:xfrm>
        </p:spPr>
        <p:txBody>
          <a:bodyPr>
            <a:normAutofit/>
          </a:bodyPr>
          <a:lstStyle/>
          <a:p>
            <a:pPr algn="ctr"/>
            <a:r>
              <a:rPr lang="en-US" sz="4000" dirty="0">
                <a:latin typeface="Sitka Heading Semibold" pitchFamily="2" charset="0"/>
              </a:rPr>
              <a:t>Project overview</a:t>
            </a:r>
          </a:p>
        </p:txBody>
      </p:sp>
      <p:sp>
        <p:nvSpPr>
          <p:cNvPr id="4" name="TextBox 3">
            <a:extLst>
              <a:ext uri="{FF2B5EF4-FFF2-40B4-BE49-F238E27FC236}">
                <a16:creationId xmlns:a16="http://schemas.microsoft.com/office/drawing/2014/main" id="{AC891DF1-1F32-F3F4-A4EC-44D2D02E089C}"/>
              </a:ext>
            </a:extLst>
          </p:cNvPr>
          <p:cNvSpPr txBox="1"/>
          <p:nvPr/>
        </p:nvSpPr>
        <p:spPr>
          <a:xfrm>
            <a:off x="2858219" y="2605177"/>
            <a:ext cx="7338204" cy="3385542"/>
          </a:xfrm>
          <a:prstGeom prst="rect">
            <a:avLst/>
          </a:prstGeom>
          <a:noFill/>
        </p:spPr>
        <p:txBody>
          <a:bodyPr wrap="square" rtlCol="0">
            <a:spAutoFit/>
          </a:bodyPr>
          <a:lstStyle/>
          <a:p>
            <a:r>
              <a:rPr lang="en-US" sz="2800" dirty="0">
                <a:cs typeface="Kartika" panose="020B0502040204020203" pitchFamily="18" charset="0"/>
              </a:rPr>
              <a:t>IDC Pizza is an Indian pizza restaurant chain. Who is planning to optimize marketing strategies, improve customer satisfaction, and drive revenue growth by identifying trends, patterns, and actionable insights from customer data. </a:t>
            </a:r>
            <a:br>
              <a:rPr lang="en-US" sz="2800" dirty="0">
                <a:cs typeface="Kartika" panose="020B0502040204020203" pitchFamily="18" charset="0"/>
              </a:rPr>
            </a:br>
            <a:br>
              <a:rPr lang="en-US" sz="2800" dirty="0">
                <a:cs typeface="Kartika" panose="020B0502040204020203" pitchFamily="18" charset="0"/>
              </a:rPr>
            </a:br>
            <a:endParaRPr lang="en-US" sz="2800" dirty="0">
              <a:cs typeface="Kartika" panose="020B0502040204020203" pitchFamily="18" charset="0"/>
            </a:endParaRPr>
          </a:p>
          <a:p>
            <a:endParaRPr lang="en-US" dirty="0">
              <a:latin typeface="Abadi" panose="020B0604020104020204" pitchFamily="34" charset="0"/>
              <a:cs typeface="Kartika" panose="020B0502040204020203" pitchFamily="18" charset="0"/>
            </a:endParaRPr>
          </a:p>
        </p:txBody>
      </p:sp>
    </p:spTree>
    <p:extLst>
      <p:ext uri="{BB962C8B-B14F-4D97-AF65-F5344CB8AC3E}">
        <p14:creationId xmlns:p14="http://schemas.microsoft.com/office/powerpoint/2010/main" val="147346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B2B7C-3FC9-F5CE-A0E6-9F0343C61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29C43-5F39-56AE-A37D-C07A90360C29}"/>
              </a:ext>
            </a:extLst>
          </p:cNvPr>
          <p:cNvSpPr>
            <a:spLocks noGrp="1"/>
          </p:cNvSpPr>
          <p:nvPr>
            <p:ph type="ctrTitle"/>
          </p:nvPr>
        </p:nvSpPr>
        <p:spPr>
          <a:xfrm>
            <a:off x="1876424" y="1122363"/>
            <a:ext cx="8791575" cy="965229"/>
          </a:xfrm>
        </p:spPr>
        <p:txBody>
          <a:bodyPr>
            <a:normAutofit/>
          </a:bodyPr>
          <a:lstStyle/>
          <a:p>
            <a:pPr algn="ctr"/>
            <a:r>
              <a:rPr lang="en-US" sz="4000" dirty="0">
                <a:latin typeface="Sitka Heading Semibold" pitchFamily="2" charset="0"/>
              </a:rPr>
              <a:t>Project Goals</a:t>
            </a:r>
          </a:p>
        </p:txBody>
      </p:sp>
      <p:sp>
        <p:nvSpPr>
          <p:cNvPr id="10" name="TextBox 9">
            <a:extLst>
              <a:ext uri="{FF2B5EF4-FFF2-40B4-BE49-F238E27FC236}">
                <a16:creationId xmlns:a16="http://schemas.microsoft.com/office/drawing/2014/main" id="{F668866A-6EEC-7572-23A8-66A43CD85661}"/>
              </a:ext>
            </a:extLst>
          </p:cNvPr>
          <p:cNvSpPr txBox="1"/>
          <p:nvPr/>
        </p:nvSpPr>
        <p:spPr>
          <a:xfrm>
            <a:off x="3585754" y="2775857"/>
            <a:ext cx="6701246"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Database creation and table design.</a:t>
            </a:r>
          </a:p>
          <a:p>
            <a:pPr marL="457200" indent="-457200">
              <a:buFont typeface="Arial" panose="020B0604020202020204" pitchFamily="34" charset="0"/>
              <a:buChar char="•"/>
            </a:pPr>
            <a:r>
              <a:rPr lang="en-US" sz="2800" dirty="0"/>
              <a:t>Filtering the dataset.</a:t>
            </a:r>
          </a:p>
          <a:p>
            <a:pPr marL="457200" indent="-457200">
              <a:buFont typeface="Arial" panose="020B0604020202020204" pitchFamily="34" charset="0"/>
              <a:buChar char="•"/>
            </a:pPr>
            <a:r>
              <a:rPr lang="en-US" sz="2800" dirty="0"/>
              <a:t>Aggregations</a:t>
            </a:r>
          </a:p>
          <a:p>
            <a:pPr marL="457200" indent="-457200">
              <a:buFont typeface="Arial" panose="020B0604020202020204" pitchFamily="34" charset="0"/>
              <a:buChar char="•"/>
            </a:pPr>
            <a:r>
              <a:rPr lang="en-US" sz="2800" dirty="0"/>
              <a:t>Joins</a:t>
            </a:r>
          </a:p>
          <a:p>
            <a:pPr marL="457200" indent="-457200">
              <a:buFont typeface="Arial" panose="020B0604020202020204" pitchFamily="34" charset="0"/>
              <a:buChar char="•"/>
            </a:pPr>
            <a:r>
              <a:rPr lang="en-US" sz="2800" dirty="0"/>
              <a:t>Data Cleaning</a:t>
            </a:r>
          </a:p>
        </p:txBody>
      </p:sp>
    </p:spTree>
    <p:extLst>
      <p:ext uri="{BB962C8B-B14F-4D97-AF65-F5344CB8AC3E}">
        <p14:creationId xmlns:p14="http://schemas.microsoft.com/office/powerpoint/2010/main" val="1494434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72D03-1213-FA77-5FE3-73E48815F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B6188-DE42-9119-F5BC-9EF082EFD4C5}"/>
              </a:ext>
            </a:extLst>
          </p:cNvPr>
          <p:cNvSpPr>
            <a:spLocks noGrp="1"/>
          </p:cNvSpPr>
          <p:nvPr>
            <p:ph type="ctrTitle"/>
          </p:nvPr>
        </p:nvSpPr>
        <p:spPr>
          <a:xfrm>
            <a:off x="2222589" y="704352"/>
            <a:ext cx="8791575" cy="739094"/>
          </a:xfrm>
        </p:spPr>
        <p:txBody>
          <a:bodyPr>
            <a:normAutofit/>
          </a:bodyPr>
          <a:lstStyle/>
          <a:p>
            <a:pPr algn="ctr"/>
            <a:r>
              <a:rPr lang="en-US" sz="4000" dirty="0">
                <a:latin typeface="Sitka Heading Semibold" pitchFamily="2" charset="0"/>
              </a:rPr>
              <a:t>Process</a:t>
            </a:r>
          </a:p>
        </p:txBody>
      </p:sp>
      <p:sp>
        <p:nvSpPr>
          <p:cNvPr id="5" name="TextBox 4">
            <a:extLst>
              <a:ext uri="{FF2B5EF4-FFF2-40B4-BE49-F238E27FC236}">
                <a16:creationId xmlns:a16="http://schemas.microsoft.com/office/drawing/2014/main" id="{B60772DA-435A-04D1-AA6A-1FF920ED18B2}"/>
              </a:ext>
            </a:extLst>
          </p:cNvPr>
          <p:cNvSpPr txBox="1"/>
          <p:nvPr/>
        </p:nvSpPr>
        <p:spPr>
          <a:xfrm>
            <a:off x="1892962" y="1914072"/>
            <a:ext cx="10352642" cy="4247317"/>
          </a:xfrm>
          <a:prstGeom prst="rect">
            <a:avLst/>
          </a:prstGeom>
          <a:noFill/>
        </p:spPr>
        <p:txBody>
          <a:bodyPr wrap="none" rtlCol="0">
            <a:spAutoFit/>
          </a:bodyPr>
          <a:lstStyle/>
          <a:p>
            <a:r>
              <a:rPr lang="en-US" sz="2400" dirty="0"/>
              <a:t>The project is divided into three phases, each with a different difficulty level</a:t>
            </a:r>
            <a:r>
              <a:rPr lang="en-US" dirty="0"/>
              <a:t>.</a:t>
            </a:r>
          </a:p>
          <a:p>
            <a:endParaRPr lang="en-US" dirty="0"/>
          </a:p>
          <a:p>
            <a:r>
              <a:rPr lang="en-US" sz="2400" dirty="0"/>
              <a:t>Phase 1: Foundation and Inspection</a:t>
            </a:r>
          </a:p>
          <a:p>
            <a:endParaRPr lang="en-US" sz="2400" dirty="0"/>
          </a:p>
          <a:p>
            <a:pPr marL="342900" indent="-342900">
              <a:buFont typeface="Arial" panose="020B0604020202020204" pitchFamily="34" charset="0"/>
              <a:buChar char="•"/>
            </a:pPr>
            <a:r>
              <a:rPr lang="en-US" sz="2000" dirty="0"/>
              <a:t>Understanding your dataset is the crucial first step in analysis, as it provides the foundation </a:t>
            </a:r>
            <a:br>
              <a:rPr lang="en-US" sz="2000" dirty="0"/>
            </a:br>
            <a:r>
              <a:rPr lang="en-US" sz="2000" dirty="0"/>
              <a:t>for accurate and insightful findings.</a:t>
            </a:r>
          </a:p>
          <a:p>
            <a:endParaRPr lang="en-US" sz="2000" dirty="0"/>
          </a:p>
          <a:p>
            <a:pPr marL="342900" indent="-342900">
              <a:buFont typeface="Arial" panose="020B0604020202020204" pitchFamily="34" charset="0"/>
              <a:buChar char="•"/>
            </a:pPr>
            <a:r>
              <a:rPr lang="en-US" sz="2000" dirty="0"/>
              <a:t>The second step was to validate the data for accuracy, completeness, and consistency. It helps</a:t>
            </a:r>
            <a:br>
              <a:rPr lang="en-US" sz="2000" dirty="0"/>
            </a:br>
            <a:r>
              <a:rPr lang="en-US" sz="2000" dirty="0"/>
              <a:t>prevent errors, improve data quality, and ensure compliance with ethical and legal requirements.</a:t>
            </a:r>
          </a:p>
          <a:p>
            <a:endParaRPr lang="en-US" sz="2000" dirty="0"/>
          </a:p>
          <a:p>
            <a:pPr marL="342900" indent="-342900">
              <a:buFont typeface="Arial" panose="020B0604020202020204" pitchFamily="34" charset="0"/>
              <a:buChar char="•"/>
            </a:pPr>
            <a:r>
              <a:rPr lang="en-US" sz="2000" dirty="0"/>
              <a:t>The last step in this phase was data cleaning, where we dealt with NULLS and replaced </a:t>
            </a:r>
            <a:br>
              <a:rPr lang="en-US" sz="2000" dirty="0"/>
            </a:br>
            <a:r>
              <a:rPr lang="en-US" sz="2000" dirty="0"/>
              <a:t>missing values.</a:t>
            </a:r>
            <a:br>
              <a:rPr lang="en-US" sz="2000" dirty="0"/>
            </a:br>
            <a:endParaRPr lang="en-US" sz="2000" dirty="0"/>
          </a:p>
        </p:txBody>
      </p:sp>
    </p:spTree>
    <p:extLst>
      <p:ext uri="{BB962C8B-B14F-4D97-AF65-F5344CB8AC3E}">
        <p14:creationId xmlns:p14="http://schemas.microsoft.com/office/powerpoint/2010/main" val="2581753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49294-ED1F-6B6E-0B99-E4F3CDF65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FFA3C-4E5E-BF43-2822-9AFCE31B3BA2}"/>
              </a:ext>
            </a:extLst>
          </p:cNvPr>
          <p:cNvSpPr>
            <a:spLocks noGrp="1"/>
          </p:cNvSpPr>
          <p:nvPr>
            <p:ph type="ctrTitle"/>
          </p:nvPr>
        </p:nvSpPr>
        <p:spPr>
          <a:xfrm>
            <a:off x="2222589" y="704352"/>
            <a:ext cx="8791575" cy="739094"/>
          </a:xfrm>
        </p:spPr>
        <p:txBody>
          <a:bodyPr>
            <a:normAutofit/>
          </a:bodyPr>
          <a:lstStyle/>
          <a:p>
            <a:pPr algn="ctr"/>
            <a:r>
              <a:rPr lang="en-US" sz="4000" dirty="0">
                <a:latin typeface="Sitka Heading Semibold" pitchFamily="2" charset="0"/>
              </a:rPr>
              <a:t>Process</a:t>
            </a:r>
          </a:p>
        </p:txBody>
      </p:sp>
      <p:sp>
        <p:nvSpPr>
          <p:cNvPr id="5" name="TextBox 4">
            <a:extLst>
              <a:ext uri="{FF2B5EF4-FFF2-40B4-BE49-F238E27FC236}">
                <a16:creationId xmlns:a16="http://schemas.microsoft.com/office/drawing/2014/main" id="{2F239DA6-91DA-CE11-B9E9-2C8F13A04D7F}"/>
              </a:ext>
            </a:extLst>
          </p:cNvPr>
          <p:cNvSpPr txBox="1"/>
          <p:nvPr/>
        </p:nvSpPr>
        <p:spPr>
          <a:xfrm>
            <a:off x="1892962" y="1914072"/>
            <a:ext cx="10538526" cy="3600986"/>
          </a:xfrm>
          <a:prstGeom prst="rect">
            <a:avLst/>
          </a:prstGeom>
          <a:noFill/>
        </p:spPr>
        <p:txBody>
          <a:bodyPr wrap="none" rtlCol="0">
            <a:spAutoFit/>
          </a:bodyPr>
          <a:lstStyle/>
          <a:p>
            <a:r>
              <a:rPr lang="en-US" sz="2400" dirty="0"/>
              <a:t>Phase 2: Filtering </a:t>
            </a:r>
          </a:p>
          <a:p>
            <a:endParaRPr lang="en-US" sz="2400" dirty="0"/>
          </a:p>
          <a:p>
            <a:pPr marL="342900" indent="-342900">
              <a:buFont typeface="Arial" panose="020B0604020202020204" pitchFamily="34" charset="0"/>
              <a:buChar char="•"/>
            </a:pPr>
            <a:r>
              <a:rPr lang="en-US" sz="2000" dirty="0"/>
              <a:t>In this phase, we were focused on removing irrelevant, noisy parts of the dataset using different </a:t>
            </a:r>
            <a:br>
              <a:rPr lang="en-US" sz="2000" dirty="0"/>
            </a:br>
            <a:r>
              <a:rPr lang="en-US" sz="2000" dirty="0"/>
              <a:t>filtering methods.</a:t>
            </a:r>
          </a:p>
          <a:p>
            <a:endParaRPr lang="en-US" sz="2000" dirty="0"/>
          </a:p>
          <a:p>
            <a:pPr marL="342900" indent="-342900">
              <a:buFont typeface="Arial" panose="020B0604020202020204" pitchFamily="34" charset="0"/>
              <a:buChar char="•"/>
            </a:pPr>
            <a:r>
              <a:rPr lang="en-US" sz="2000" dirty="0"/>
              <a:t>Here, we used time-based, criteria-based, text, and numeric filtering techniques.</a:t>
            </a:r>
          </a:p>
          <a:p>
            <a:endParaRPr lang="en-US" sz="2000" dirty="0"/>
          </a:p>
          <a:p>
            <a:pPr marL="342900" indent="-342900">
              <a:buFont typeface="Arial" panose="020B0604020202020204" pitchFamily="34" charset="0"/>
              <a:buChar char="•"/>
            </a:pPr>
            <a:r>
              <a:rPr lang="en-US" sz="2000" dirty="0"/>
              <a:t>Filtering data provides several advantages, like improved efficiency by reducing computational</a:t>
            </a:r>
            <a:br>
              <a:rPr lang="en-US" sz="2000" dirty="0"/>
            </a:br>
            <a:r>
              <a:rPr lang="en-US" sz="2000" dirty="0"/>
              <a:t>load, saving time and resources, and ensuring sensitive or irrelevant data is excluded which in turn </a:t>
            </a:r>
            <a:br>
              <a:rPr lang="en-US" sz="2000" dirty="0"/>
            </a:br>
            <a:r>
              <a:rPr lang="en-US" sz="2000" dirty="0"/>
              <a:t>enhance privacy and compliance.</a:t>
            </a:r>
            <a:br>
              <a:rPr lang="en-US" sz="2000" dirty="0"/>
            </a:br>
            <a:endParaRPr lang="en-US" sz="2000" dirty="0"/>
          </a:p>
        </p:txBody>
      </p:sp>
    </p:spTree>
    <p:extLst>
      <p:ext uri="{BB962C8B-B14F-4D97-AF65-F5344CB8AC3E}">
        <p14:creationId xmlns:p14="http://schemas.microsoft.com/office/powerpoint/2010/main" val="1826256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E8F0B-40E7-41E9-CF86-03ED7334B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9DBF5-9C04-1239-0DA9-93EACAADFDB6}"/>
              </a:ext>
            </a:extLst>
          </p:cNvPr>
          <p:cNvSpPr>
            <a:spLocks noGrp="1"/>
          </p:cNvSpPr>
          <p:nvPr>
            <p:ph type="ctrTitle"/>
          </p:nvPr>
        </p:nvSpPr>
        <p:spPr>
          <a:xfrm>
            <a:off x="2222589" y="704352"/>
            <a:ext cx="8791575" cy="739094"/>
          </a:xfrm>
        </p:spPr>
        <p:txBody>
          <a:bodyPr>
            <a:normAutofit/>
          </a:bodyPr>
          <a:lstStyle/>
          <a:p>
            <a:pPr algn="ctr"/>
            <a:r>
              <a:rPr lang="en-US" sz="4000" dirty="0">
                <a:latin typeface="Sitka Heading Semibold" pitchFamily="2" charset="0"/>
              </a:rPr>
              <a:t>Process</a:t>
            </a:r>
          </a:p>
        </p:txBody>
      </p:sp>
      <p:sp>
        <p:nvSpPr>
          <p:cNvPr id="5" name="TextBox 4">
            <a:extLst>
              <a:ext uri="{FF2B5EF4-FFF2-40B4-BE49-F238E27FC236}">
                <a16:creationId xmlns:a16="http://schemas.microsoft.com/office/drawing/2014/main" id="{9EE4D367-75F7-B921-984E-1D4E7FC8F62D}"/>
              </a:ext>
            </a:extLst>
          </p:cNvPr>
          <p:cNvSpPr txBox="1"/>
          <p:nvPr/>
        </p:nvSpPr>
        <p:spPr>
          <a:xfrm>
            <a:off x="1892962" y="1914072"/>
            <a:ext cx="10365979" cy="4216539"/>
          </a:xfrm>
          <a:prstGeom prst="rect">
            <a:avLst/>
          </a:prstGeom>
          <a:noFill/>
        </p:spPr>
        <p:txBody>
          <a:bodyPr wrap="none" rtlCol="0">
            <a:spAutoFit/>
          </a:bodyPr>
          <a:lstStyle/>
          <a:p>
            <a:r>
              <a:rPr lang="en-US" sz="2400" dirty="0"/>
              <a:t>Phase 3: Aggregating and Analyzing Sales Performance</a:t>
            </a:r>
          </a:p>
          <a:p>
            <a:endParaRPr lang="en-US" sz="2400" dirty="0"/>
          </a:p>
          <a:p>
            <a:pPr marL="342900" indent="-342900">
              <a:buFont typeface="Arial" panose="020B0604020202020204" pitchFamily="34" charset="0"/>
              <a:buChar char="•"/>
            </a:pPr>
            <a:r>
              <a:rPr lang="en-US" sz="2000" dirty="0"/>
              <a:t>Aggregated data provides a holistic view of performance metrics and key indicators.</a:t>
            </a:r>
          </a:p>
          <a:p>
            <a:endParaRPr lang="en-US" sz="2000" dirty="0"/>
          </a:p>
          <a:p>
            <a:pPr marL="342900" indent="-342900">
              <a:buFont typeface="Arial" panose="020B0604020202020204" pitchFamily="34" charset="0"/>
              <a:buChar char="•"/>
            </a:pPr>
            <a:r>
              <a:rPr lang="en-US" sz="2000" dirty="0"/>
              <a:t>In this phase, we got the opportunity to explore the most common SQL aggregation functions,</a:t>
            </a:r>
            <a:br>
              <a:rPr lang="en-US" sz="2000" dirty="0"/>
            </a:br>
            <a:r>
              <a:rPr lang="en-US" sz="2000" dirty="0"/>
              <a:t>like COUNT(), SUM(), AVG(), we paired these functions with the GROUP BY clause to aggregate </a:t>
            </a:r>
            <a:br>
              <a:rPr lang="en-US" sz="2000" dirty="0"/>
            </a:br>
            <a:r>
              <a:rPr lang="en-US" sz="2000" dirty="0"/>
              <a:t>data based on a specific category.</a:t>
            </a:r>
          </a:p>
          <a:p>
            <a:endParaRPr lang="en-US" sz="2000" dirty="0"/>
          </a:p>
          <a:p>
            <a:pPr marL="342900" indent="-342900">
              <a:buFont typeface="Arial" panose="020B0604020202020204" pitchFamily="34" charset="0"/>
              <a:buChar char="•"/>
            </a:pPr>
            <a:r>
              <a:rPr lang="en-US" sz="2000" dirty="0"/>
              <a:t>We also used different types of JOINS effectively to ensure data is retrieved in a structured, </a:t>
            </a:r>
            <a:br>
              <a:rPr lang="en-US" sz="2000" dirty="0"/>
            </a:br>
            <a:r>
              <a:rPr lang="en-US" sz="2000" dirty="0"/>
              <a:t>meaningful way, supporting complex queries and reporting needs.</a:t>
            </a:r>
          </a:p>
          <a:p>
            <a:endParaRPr lang="en-US" sz="2000" dirty="0"/>
          </a:p>
          <a:p>
            <a:pPr marL="342900" indent="-342900">
              <a:buFont typeface="Arial" panose="020B0604020202020204" pitchFamily="34" charset="0"/>
              <a:buChar char="•"/>
            </a:pPr>
            <a:r>
              <a:rPr lang="en-US" sz="2000" dirty="0"/>
              <a:t>In the final phase of the project, we documented our queries and submitted the result set. </a:t>
            </a:r>
            <a:br>
              <a:rPr lang="en-US" sz="2000" dirty="0"/>
            </a:br>
            <a:endParaRPr lang="en-US" sz="2000" dirty="0"/>
          </a:p>
        </p:txBody>
      </p:sp>
    </p:spTree>
    <p:extLst>
      <p:ext uri="{BB962C8B-B14F-4D97-AF65-F5344CB8AC3E}">
        <p14:creationId xmlns:p14="http://schemas.microsoft.com/office/powerpoint/2010/main" val="1497762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9B283-46F8-C99F-07C6-6CDB6F8CA932}"/>
              </a:ext>
            </a:extLst>
          </p:cNvPr>
          <p:cNvSpPr>
            <a:spLocks noGrp="1"/>
          </p:cNvSpPr>
          <p:nvPr>
            <p:ph type="title"/>
          </p:nvPr>
        </p:nvSpPr>
        <p:spPr>
          <a:xfrm>
            <a:off x="1383075" y="298478"/>
            <a:ext cx="9905998" cy="819721"/>
          </a:xfrm>
        </p:spPr>
        <p:txBody>
          <a:bodyPr>
            <a:normAutofit/>
          </a:bodyPr>
          <a:lstStyle/>
          <a:p>
            <a:pPr algn="ctr"/>
            <a:r>
              <a:rPr lang="en-US" sz="4000" dirty="0">
                <a:latin typeface="Sitka Heading Semibold" pitchFamily="2" charset="0"/>
              </a:rPr>
              <a:t>Glimpse of our project</a:t>
            </a:r>
          </a:p>
        </p:txBody>
      </p:sp>
      <p:pic>
        <p:nvPicPr>
          <p:cNvPr id="4" name="Picture 3" descr="A computer code with text">
            <a:extLst>
              <a:ext uri="{FF2B5EF4-FFF2-40B4-BE49-F238E27FC236}">
                <a16:creationId xmlns:a16="http://schemas.microsoft.com/office/drawing/2014/main" id="{3EC80F21-245E-561A-2FF0-680513FE0ECB}"/>
              </a:ext>
            </a:extLst>
          </p:cNvPr>
          <p:cNvPicPr>
            <a:picLocks noChangeAspect="1"/>
          </p:cNvPicPr>
          <p:nvPr/>
        </p:nvPicPr>
        <p:blipFill>
          <a:blip r:embed="rId3"/>
          <a:stretch>
            <a:fillRect/>
          </a:stretch>
        </p:blipFill>
        <p:spPr>
          <a:xfrm>
            <a:off x="1155133" y="1335056"/>
            <a:ext cx="5365537" cy="2361734"/>
          </a:xfrm>
          <a:prstGeom prst="rect">
            <a:avLst/>
          </a:prstGeom>
          <a:effectLst>
            <a:softEdge rad="38100"/>
          </a:effectLst>
        </p:spPr>
      </p:pic>
      <p:pic>
        <p:nvPicPr>
          <p:cNvPr id="6" name="Picture 5" descr="A computer code with text">
            <a:extLst>
              <a:ext uri="{FF2B5EF4-FFF2-40B4-BE49-F238E27FC236}">
                <a16:creationId xmlns:a16="http://schemas.microsoft.com/office/drawing/2014/main" id="{82E23150-341F-FB03-5E7E-BFA8D5B0DC38}"/>
              </a:ext>
            </a:extLst>
          </p:cNvPr>
          <p:cNvPicPr>
            <a:picLocks noChangeAspect="1"/>
          </p:cNvPicPr>
          <p:nvPr/>
        </p:nvPicPr>
        <p:blipFill>
          <a:blip r:embed="rId4"/>
          <a:stretch>
            <a:fillRect/>
          </a:stretch>
        </p:blipFill>
        <p:spPr>
          <a:xfrm>
            <a:off x="1126893" y="4016879"/>
            <a:ext cx="5422016" cy="2542643"/>
          </a:xfrm>
          <a:prstGeom prst="rect">
            <a:avLst/>
          </a:prstGeom>
          <a:effectLst>
            <a:softEdge rad="38100"/>
          </a:effectLst>
        </p:spPr>
      </p:pic>
      <p:pic>
        <p:nvPicPr>
          <p:cNvPr id="8" name="Picture 7" descr="A screenshot of a computer">
            <a:extLst>
              <a:ext uri="{FF2B5EF4-FFF2-40B4-BE49-F238E27FC236}">
                <a16:creationId xmlns:a16="http://schemas.microsoft.com/office/drawing/2014/main" id="{3FCE346E-F6F5-6621-16C2-2D0C43E80147}"/>
              </a:ext>
            </a:extLst>
          </p:cNvPr>
          <p:cNvPicPr>
            <a:picLocks noChangeAspect="1"/>
          </p:cNvPicPr>
          <p:nvPr/>
        </p:nvPicPr>
        <p:blipFill>
          <a:blip r:embed="rId5"/>
          <a:stretch>
            <a:fillRect/>
          </a:stretch>
        </p:blipFill>
        <p:spPr>
          <a:xfrm>
            <a:off x="6825344" y="1335056"/>
            <a:ext cx="5170068" cy="5224466"/>
          </a:xfrm>
          <a:prstGeom prst="rect">
            <a:avLst/>
          </a:prstGeom>
          <a:effectLst>
            <a:softEdge rad="25400"/>
          </a:effectLst>
        </p:spPr>
      </p:pic>
    </p:spTree>
    <p:extLst>
      <p:ext uri="{BB962C8B-B14F-4D97-AF65-F5344CB8AC3E}">
        <p14:creationId xmlns:p14="http://schemas.microsoft.com/office/powerpoint/2010/main" val="1364648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AA83463-E5B7-0F37-2A88-B30108965085}"/>
              </a:ext>
            </a:extLst>
          </p:cNvPr>
          <p:cNvSpPr txBox="1"/>
          <p:nvPr/>
        </p:nvSpPr>
        <p:spPr>
          <a:xfrm>
            <a:off x="2804160" y="1574074"/>
            <a:ext cx="6583680" cy="1200329"/>
          </a:xfrm>
          <a:prstGeom prst="rect">
            <a:avLst/>
          </a:prstGeom>
          <a:noFill/>
        </p:spPr>
        <p:txBody>
          <a:bodyPr wrap="square" rtlCol="0">
            <a:spAutoFit/>
          </a:bodyPr>
          <a:lstStyle/>
          <a:p>
            <a:pPr algn="ctr"/>
            <a:r>
              <a:rPr lang="en-US" sz="2400" dirty="0">
                <a:latin typeface="Abadi" panose="020B0604020104020204" pitchFamily="34" charset="0"/>
              </a:rPr>
              <a:t>Thank You, Indian Data Club, DPD Zero</a:t>
            </a:r>
          </a:p>
          <a:p>
            <a:pPr algn="ctr"/>
            <a:r>
              <a:rPr lang="en-US" sz="2400" dirty="0">
                <a:latin typeface="Abadi" panose="020B0604020104020204" pitchFamily="34" charset="0"/>
              </a:rPr>
              <a:t>&amp;</a:t>
            </a:r>
            <a:br>
              <a:rPr lang="en-US" sz="2400" dirty="0">
                <a:latin typeface="Abadi" panose="020B0604020104020204" pitchFamily="34" charset="0"/>
              </a:rPr>
            </a:br>
            <a:r>
              <a:rPr lang="en-US" sz="2400" dirty="0">
                <a:latin typeface="Abadi" panose="020B0604020104020204" pitchFamily="34" charset="0"/>
              </a:rPr>
              <a:t>LinkedIn Friends for the continuous support </a:t>
            </a:r>
          </a:p>
        </p:txBody>
      </p:sp>
      <p:pic>
        <p:nvPicPr>
          <p:cNvPr id="12" name="Picture 11" descr="A close-up of a hand writing">
            <a:extLst>
              <a:ext uri="{FF2B5EF4-FFF2-40B4-BE49-F238E27FC236}">
                <a16:creationId xmlns:a16="http://schemas.microsoft.com/office/drawing/2014/main" id="{151E0737-3CBC-AE97-4FB9-D95D6832ED6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837473B0-CC2E-450A-ABE3-18F120FF3D39}">
                <a1611:picAttrSrcUrl xmlns:a1611="http://schemas.microsoft.com/office/drawing/2016/11/main" r:id="rId5"/>
              </a:ext>
            </a:extLst>
          </a:blip>
          <a:stretch>
            <a:fillRect/>
          </a:stretch>
        </p:blipFill>
        <p:spPr>
          <a:xfrm>
            <a:off x="3763303" y="3635429"/>
            <a:ext cx="4665394" cy="2085270"/>
          </a:xfrm>
          <a:prstGeom prst="rect">
            <a:avLst/>
          </a:prstGeom>
          <a:effectLst>
            <a:softEdge rad="76200"/>
          </a:effectLst>
        </p:spPr>
      </p:pic>
    </p:spTree>
    <p:extLst>
      <p:ext uri="{BB962C8B-B14F-4D97-AF65-F5344CB8AC3E}">
        <p14:creationId xmlns:p14="http://schemas.microsoft.com/office/powerpoint/2010/main" val="658689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8D1E14"/>
      </a:dk2>
      <a:lt2>
        <a:srgbClr val="FF744E"/>
      </a:lt2>
      <a:accent1>
        <a:srgbClr val="E9B758"/>
      </a:accent1>
      <a:accent2>
        <a:srgbClr val="FE8943"/>
      </a:accent2>
      <a:accent3>
        <a:srgbClr val="AEA27C"/>
      </a:accent3>
      <a:accent4>
        <a:srgbClr val="90B46E"/>
      </a:accent4>
      <a:accent5>
        <a:srgbClr val="71AEC1"/>
      </a:accent5>
      <a:accent6>
        <a:srgbClr val="C98DE7"/>
      </a:accent6>
      <a:hlink>
        <a:srgbClr val="FF7A22"/>
      </a:hlink>
      <a:folHlink>
        <a:srgbClr val="FDCD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971C58-AB76-4A2A-B231-5F8CA03CF4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1011</TotalTime>
  <Words>415</Words>
  <Application>Microsoft Office PowerPoint</Application>
  <PresentationFormat>Widescreen</PresentationFormat>
  <Paragraphs>47</Paragraphs>
  <Slides>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Abadi</vt:lpstr>
      <vt:lpstr>Aptos</vt:lpstr>
      <vt:lpstr>Arial</vt:lpstr>
      <vt:lpstr>Kartika</vt:lpstr>
      <vt:lpstr>Sitka Heading Semibold</vt:lpstr>
      <vt:lpstr>Sitka Subheading</vt:lpstr>
      <vt:lpstr>Tw Cen MT</vt:lpstr>
      <vt:lpstr>Circuit</vt:lpstr>
      <vt:lpstr>The Great Pizza Analytics Challenge</vt:lpstr>
      <vt:lpstr>About the data analyst</vt:lpstr>
      <vt:lpstr>Project overview</vt:lpstr>
      <vt:lpstr>Project Goals</vt:lpstr>
      <vt:lpstr>Process</vt:lpstr>
      <vt:lpstr>Process</vt:lpstr>
      <vt:lpstr>Process</vt:lpstr>
      <vt:lpstr>Glimpse of our project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Jyoti Sharma</dc:creator>
  <cp:lastModifiedBy>Jyoti Sharma</cp:lastModifiedBy>
  <cp:revision>1</cp:revision>
  <dcterms:created xsi:type="dcterms:W3CDTF">2025-11-21T02:22:05Z</dcterms:created>
  <dcterms:modified xsi:type="dcterms:W3CDTF">2025-11-21T19:13:06Z</dcterms:modified>
</cp:coreProperties>
</file>